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9"/>
  </p:notesMasterIdLst>
  <p:handoutMasterIdLst>
    <p:handoutMasterId r:id="rId20"/>
  </p:handoutMasterIdLst>
  <p:sldIdLst>
    <p:sldId id="261" r:id="rId3"/>
    <p:sldId id="314" r:id="rId4"/>
    <p:sldId id="322" r:id="rId5"/>
    <p:sldId id="323" r:id="rId6"/>
    <p:sldId id="266" r:id="rId7"/>
    <p:sldId id="341" r:id="rId8"/>
    <p:sldId id="342" r:id="rId9"/>
    <p:sldId id="343" r:id="rId10"/>
    <p:sldId id="344" r:id="rId11"/>
    <p:sldId id="345" r:id="rId12"/>
    <p:sldId id="346" r:id="rId13"/>
    <p:sldId id="340" r:id="rId14"/>
    <p:sldId id="349" r:id="rId15"/>
    <p:sldId id="347" r:id="rId16"/>
    <p:sldId id="348" r:id="rId17"/>
    <p:sldId id="33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BCDB23-F71F-45AC-95C4-53EA35851854}" v="25" dt="2026-03-04T03:42:43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582"/>
    <p:restoredTop sz="95833"/>
  </p:normalViewPr>
  <p:slideViewPr>
    <p:cSldViewPr snapToGrid="0" snapToObjects="1">
      <p:cViewPr varScale="1">
        <p:scale>
          <a:sx n="88" d="100"/>
          <a:sy n="88" d="100"/>
        </p:scale>
        <p:origin x="57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734CB-DFAB-944A-8037-9643745D8F20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335F-2E5B-B14E-9706-E237C81E415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7CD1-E97C-BA41-8E49-9F39B98FFBE8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DBCA1-9406-7A44-8A76-1046B4040777}" type="datetime1">
              <a:rPr lang="en-IN" smtClean="0"/>
              <a:t>10-03-2026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B085D-B69B-9C45-93A5-77F47F2F6792}" type="datetime1">
              <a:rPr lang="en-IN" smtClean="0"/>
              <a:t>10-03-2026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B69B7-E8EF-6346-9390-671C5B22ACF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0709D-BF3C-5743-B60D-B01C16014A7B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444B0-6575-954F-AAA2-CB0D0417F74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A436-9AA5-6C4B-AFF1-C34F60A9AB89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141C7-EF5A-1D4A-89F0-79C7DE818D53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2EF84-6667-8447-AC88-082F9D71D82C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63FD6-5C64-304A-9680-469E8D83D1BF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985EC-8C41-0649-B43C-28421C497AA5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85D85A-3465-384D-962A-D11BB8B3952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4C6E9-161C-B44B-AD70-8813DADCDED1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INSTRUCTIONS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92500" lnSpcReduction="10000"/>
          </a:bodyPr>
          <a:lstStyle/>
          <a:p>
            <a:r>
              <a:rPr lang="en-IN"/>
              <a:t>Use </a:t>
            </a:r>
            <a:r>
              <a:rPr lang="en-IN" dirty="0"/>
              <a:t>Font size 22 to 28 and Font Style </a:t>
            </a:r>
            <a:r>
              <a:rPr lang="en-IN" b="0" i="0" dirty="0">
                <a:solidFill>
                  <a:srgbClr val="0A0A0A"/>
                </a:solidFill>
                <a:effectLst/>
                <a:latin typeface="Google Sans"/>
              </a:rPr>
              <a:t>Times New Roman </a:t>
            </a:r>
            <a:r>
              <a:rPr lang="en-IN" dirty="0"/>
              <a:t>(body)</a:t>
            </a:r>
          </a:p>
          <a:p>
            <a:r>
              <a:rPr lang="en-IN" dirty="0"/>
              <a:t>Do not change the Template: Heading / Title of the slides</a:t>
            </a:r>
          </a:p>
          <a:p>
            <a:r>
              <a:rPr lang="en-IN" dirty="0"/>
              <a:t>Do not change font style or colours</a:t>
            </a:r>
          </a:p>
          <a:p>
            <a:r>
              <a:rPr lang="en-IN" dirty="0"/>
              <a:t>Do not copy paste paragraphs: use only Bullet Points</a:t>
            </a:r>
          </a:p>
          <a:p>
            <a:r>
              <a:rPr lang="en-IN" dirty="0"/>
              <a:t>Maximum slide Limit is 20 only</a:t>
            </a:r>
          </a:p>
          <a:p>
            <a:r>
              <a:rPr lang="en-IN" dirty="0"/>
              <a:t>As per the number of supervisor allotted adopt slide-2 or slide-3</a:t>
            </a:r>
          </a:p>
          <a:p>
            <a:r>
              <a:rPr lang="en-IN" dirty="0"/>
              <a:t>Please display the required meaningful Content or images or tables </a:t>
            </a:r>
          </a:p>
          <a:p>
            <a:r>
              <a:rPr lang="en-IN" dirty="0"/>
              <a:t>Change the footer accordingly using insert tab then click on header &amp; footer tab and edit it</a:t>
            </a:r>
          </a:p>
          <a:p>
            <a:r>
              <a:rPr lang="en-IN" dirty="0"/>
              <a:t>Save the PPT with Register No, Dept and Review no,  example: </a:t>
            </a:r>
            <a:r>
              <a:rPr lang="en-US" dirty="0"/>
              <a:t>23xxxxxxxxx_CSE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DE338F-74DD-D142-8C58-9E4C5E66F6E8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391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Title: Digital Commerce Platform with Administrative Control (DCPAC)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E0CE-45A1-A1FF-31F4-66CECAEF30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0130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M Susheel Rao</a:t>
            </a:r>
          </a:p>
          <a:p>
            <a:pPr marL="0" indent="0" algn="ctr">
              <a:buNone/>
            </a:pPr>
            <a:r>
              <a:rPr lang="en-US" sz="9600" dirty="0"/>
              <a:t>Student ID: 2520080064</a:t>
            </a:r>
            <a:r>
              <a:rPr lang="en-US" sz="2400" dirty="0"/>
              <a:t>)</a:t>
            </a:r>
          </a:p>
          <a:p>
            <a:pPr marL="0" indent="0" algn="ctr">
              <a:buNone/>
            </a:pPr>
            <a:r>
              <a:rPr lang="en-US" sz="11200" dirty="0"/>
              <a:t>Cluster: 3</a:t>
            </a:r>
          </a:p>
          <a:p>
            <a:pPr marL="0" indent="0" algn="ctr">
              <a:buNone/>
            </a:pPr>
            <a:r>
              <a:rPr lang="en-US" sz="11200" dirty="0"/>
              <a:t>Section: 10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  <a:t>10-03-2026</a:t>
            </a:fld>
            <a:endParaRPr lang="en-US"/>
          </a:p>
        </p:txBody>
      </p:sp>
      <p:pic>
        <p:nvPicPr>
          <p:cNvPr id="12" name="Picture 11" descr="A picture containing shape  Description automatically generated">
            <a:extLst>
              <a:ext uri="{FF2B5EF4-FFF2-40B4-BE49-F238E27FC236}">
                <a16:creationId xmlns:a16="http://schemas.microsoft.com/office/drawing/2014/main" id="{22EBCDF0-8C0C-C908-85EA-FD8A72825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143" y="5242381"/>
            <a:ext cx="1725712" cy="930978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F9DE7D0-41AC-90DD-3065-235240261B1B}"/>
              </a:ext>
            </a:extLst>
          </p:cNvPr>
          <p:cNvSpPr txBox="1">
            <a:spLocks/>
          </p:cNvSpPr>
          <p:nvPr/>
        </p:nvSpPr>
        <p:spPr>
          <a:xfrm>
            <a:off x="496264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</a:t>
            </a:r>
          </a:p>
          <a:p>
            <a:pPr marL="0" indent="0" algn="ctr">
              <a:buNone/>
            </a:pPr>
            <a:r>
              <a:rPr lang="en-US" sz="8600" dirty="0"/>
              <a:t>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 </a:t>
            </a:r>
            <a:r>
              <a:rPr lang="en-US" sz="8600" dirty="0" err="1">
                <a:solidFill>
                  <a:srgbClr val="00B050"/>
                </a:solidFill>
              </a:rPr>
              <a:t>Mrs.Surekha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03D2-3952-BF4D-18CA-C2C8547E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6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OUTLINE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3134"/>
            <a:ext cx="10515600" cy="4683829"/>
          </a:xfrm>
        </p:spPr>
        <p:txBody>
          <a:bodyPr>
            <a:normAutofit fontScale="6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dirty="0"/>
              <a:t>Abstract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Existing System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Proposed System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System Architecture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Project Modules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Objectives 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FWD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Co’s Attainments - DSA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Co1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IN" dirty="0"/>
              <a:t>Co2 …….. 5. Co5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Screen Shots for FWD &amp; DSA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Conclusion</a:t>
            </a:r>
          </a:p>
          <a:p>
            <a:pPr marL="514350" indent="-514350">
              <a:buFont typeface="+mj-lt"/>
              <a:buAutoNum type="arabicPeriod"/>
            </a:pPr>
            <a:r>
              <a:rPr lang="en-IN" dirty="0"/>
              <a:t>Geo-Tagged Photos</a:t>
            </a:r>
          </a:p>
          <a:p>
            <a:pPr marL="514350" indent="-514350">
              <a:buFont typeface="+mj-lt"/>
              <a:buAutoNum type="arabicPeriod"/>
            </a:pPr>
            <a:endParaRPr lang="en-IN" dirty="0"/>
          </a:p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81120-93CB-BF4D-9125-DC4781C9106A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39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Abstract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DCPAC (Digital Commerce Platform with Administrative Control) is a full-featured e-commerce web application developed as a Project-Based Learning initiative.</a:t>
            </a:r>
          </a:p>
          <a:p>
            <a:r>
              <a:rPr lang="en-US" dirty="0"/>
              <a:t>The platform allows customers to browse, search, filter, and purchase products across 8 categories: Electronics, Fashion, Home, Sports, Beauty, Books, Toys, and Grocery (45+ products).</a:t>
            </a:r>
          </a:p>
          <a:p>
            <a:r>
              <a:rPr lang="en-US" dirty="0"/>
              <a:t>An integrated Admin Dashboard enables product management (CRUD), order tracking, user management, inventory monitoring, and revenue analytics.</a:t>
            </a:r>
          </a:p>
          <a:p>
            <a:r>
              <a:rPr lang="en-US" dirty="0"/>
              <a:t>The system implements secure user authentication with session management, coupon/promo code engine, multi-payment gateway (Card, UPI, Net Banking, COD), and real-time order tracking.</a:t>
            </a:r>
          </a:p>
          <a:p>
            <a:r>
              <a:rPr lang="en-US" dirty="0"/>
              <a:t>Built with HTML5, CSS3, and Vanilla JavaScript using localStorage for client-side persistence — scalable to Node.js + MongoDB backend.</a:t>
            </a:r>
          </a:p>
          <a:p>
            <a:r>
              <a:rPr lang="en-US" dirty="0"/>
              <a:t>The project demonstrates real-world software engineering: SPA routing, MVC separation, responsive UI/UX, and modular 3-file code structure (index.html + dcpac-styles.css + dcpac-app.js).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2520080064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3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2005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Problems with Existing E-Commerce Platforms:</a:t>
            </a:r>
          </a:p>
          <a:p>
            <a:r>
              <a:rPr lang="en-US" dirty="0"/>
              <a:t>Platforms like Amazon and Flipkart are enterprise-scale and too complex to replicate or customize for learning and academic projects.</a:t>
            </a:r>
          </a:p>
          <a:p>
            <a:r>
              <a:rPr lang="en-US" dirty="0"/>
              <a:t>No lightweight, open-source commerce platform with a built-in admin panel exists for student or self-learning environments.</a:t>
            </a:r>
          </a:p>
          <a:p>
            <a:r>
              <a:rPr lang="en-US" dirty="0"/>
              <a:t>Admin dashboards in existing systems are separate enterprise tools — not integrated within the commerce application itself.</a:t>
            </a:r>
          </a:p>
          <a:p>
            <a:r>
              <a:rPr lang="en-US" dirty="0"/>
              <a:t>Existing platforms lack transparent order tracking, coupon management, and a simple multi-payment flow suitable for learning.</a:t>
            </a:r>
          </a:p>
          <a:p>
            <a:r>
              <a:rPr lang="en-US" dirty="0"/>
              <a:t>Off-the-shelf solutions offer very limited UI/UX customization, restricting what students and developers can build and explore.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2520080064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833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E7308-1D11-0801-FB87-8CFF8CD9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AE696E-C5CB-1479-F98C-F7C2D0B7B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135224-75FA-6942-7E71-50A31551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0246" y="1945982"/>
            <a:ext cx="10353554" cy="3945532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DCPAC — Digital Commerce Platform with Administrative Control proposes:</a:t>
            </a:r>
          </a:p>
          <a:p>
            <a:r>
              <a:rPr lang="en-US" dirty="0"/>
              <a:t>A fully functional e-commerce SPA built with HTML, CSS and JS</a:t>
            </a:r>
          </a:p>
          <a:p>
            <a:r>
              <a:rPr lang="en-US" dirty="0"/>
              <a:t>45-product catalogue across 8 categories (Electronics, Fashion, Home, Sports, Beauty, Books, Toys, Grocery) with dynamic filtering and search.</a:t>
            </a:r>
          </a:p>
          <a:p>
            <a:r>
              <a:rPr lang="en-US" dirty="0"/>
              <a:t>Complete purchase flow: Home → Browse → Product Detail → Cart → Coupon → Payment (Card/UPI/Net Banking/COD) → Order Confirmation → Tracking.</a:t>
            </a:r>
          </a:p>
          <a:p>
            <a:r>
              <a:rPr lang="en-US" dirty="0"/>
              <a:t>Integrated Admin Dashboard with product CRUD, order and user management, inventory visibility, and revenue analytics.</a:t>
            </a:r>
          </a:p>
          <a:p>
            <a:r>
              <a:rPr lang="en-US" dirty="0"/>
              <a:t>Secure authentication with login/register, localStorage session persistence, role-based UI updates, and demo account support.</a:t>
            </a:r>
          </a:p>
          <a:p>
            <a:r>
              <a:rPr lang="en-US" dirty="0"/>
              <a:t>Responsive UI/UX design with custom cursor, particle animations, real-time search dropdown, and toast notifications.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95472-1444-D525-21F0-49779A03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105F9-7400-1835-C4B4-B38C94DE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2520080064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399E1-BA43-10D5-C92A-C058676C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A1740-4A22-BB35-FC5B-E9B781495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17383E4-A635-5D2C-0BA9-6A9D4A50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B15296F-156D-BE47-727B-C34C7CDD40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9409" y="1956120"/>
            <a:ext cx="10173182" cy="4035647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Presentation Layer (Frontend — Browser):</a:t>
            </a:r>
          </a:p>
          <a:p>
            <a:pPr marL="457200" lvl="1"/>
            <a:r>
              <a:rPr lang="en-US" dirty="0"/>
              <a:t>index.html — SPA shell with 10 page sections</a:t>
            </a:r>
          </a:p>
          <a:p>
            <a:pPr marL="457200" lvl="1"/>
            <a:r>
              <a:rPr lang="en-US" dirty="0"/>
              <a:t>dcpac-styles.css — Complete design system (CSS variables, animations, responsive breakpoints)</a:t>
            </a:r>
          </a:p>
          <a:p>
            <a:pPr marL="457200" lvl="1"/>
            <a:r>
              <a:rPr lang="en-US" dirty="0"/>
              <a:t>KL University template branding maintained throughout</a:t>
            </a:r>
          </a:p>
          <a:p>
            <a:r>
              <a:rPr lang="en-US" b="1" dirty="0"/>
              <a:t>Business Logic Layer (JavaScript — dcpac-app.js):</a:t>
            </a:r>
          </a:p>
          <a:p>
            <a:pPr marL="457200" lvl="1"/>
            <a:r>
              <a:rPr lang="en-US" dirty="0"/>
              <a:t>SPA Router (P() function) — 10 pages, no page reload</a:t>
            </a:r>
          </a:p>
          <a:p>
            <a:pPr marL="457200" lvl="1"/>
            <a:r>
              <a:rPr lang="en-US" dirty="0"/>
              <a:t>Cart Engine, Filter/Search Engine, Auth Manager, Coupon &amp; Payment Logic</a:t>
            </a:r>
          </a:p>
          <a:p>
            <a:pPr marL="457200" lvl="1"/>
            <a:r>
              <a:rPr lang="en-US" dirty="0"/>
              <a:t>Canvas API particle system, real-time DOM manipulation</a:t>
            </a:r>
          </a:p>
          <a:p>
            <a:r>
              <a:rPr lang="en-US" b="1" dirty="0"/>
              <a:t>Data Layer (Browser Storage — localStorage):</a:t>
            </a:r>
          </a:p>
          <a:p>
            <a:pPr marL="457200" lvl="1"/>
            <a:r>
              <a:rPr lang="en-US" dirty="0"/>
              <a:t>cart[], users[], orders[] arrays — all persisted across sessions</a:t>
            </a:r>
          </a:p>
          <a:p>
            <a:pPr marL="457200" lvl="1"/>
            <a:r>
              <a:rPr lang="en-US" dirty="0"/>
              <a:t>session object for active user; DB[] array — 45-product in-memory database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D3843-97BD-682A-B84E-8FDB1825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237BD-B76F-738D-5648-B271AAD5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2520080064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2409B-FFAD-25CD-834C-0C2CA4A7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011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3485-1CDC-6A29-86F1-EC5F9BB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F8E0586-CE85-480D-585E-FCD3C344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890F206-B37F-761D-F471-0BF91F8897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5651"/>
            <a:ext cx="10515600" cy="4371311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Module 01 — Home &amp; Hero:</a:t>
            </a:r>
          </a:p>
          <a:p>
            <a:pPr marL="457200" lvl="1"/>
            <a:r>
              <a:rPr lang="en-US" dirty="0"/>
              <a:t>Animated particle canvas, product reel, category grid, flash deals bento, trending rows, scrolling ticker.</a:t>
            </a:r>
          </a:p>
          <a:p>
            <a:r>
              <a:rPr lang="en-US" b="1" dirty="0"/>
              <a:t>Module 02 — Product Catalogue:</a:t>
            </a:r>
          </a:p>
          <a:p>
            <a:pPr marL="457200" lvl="1"/>
            <a:r>
              <a:rPr lang="en-US" dirty="0"/>
              <a:t>45-product DB, dynamic filter sidebar (category, price, rating, discount), sort options, live result count.</a:t>
            </a:r>
          </a:p>
          <a:p>
            <a:r>
              <a:rPr lang="en-US" b="1" dirty="0"/>
              <a:t>Module 03 — Product Detail:</a:t>
            </a:r>
          </a:p>
          <a:p>
            <a:pPr marL="457200" lvl="1"/>
            <a:r>
              <a:rPr lang="en-US" dirty="0"/>
              <a:t>Full detail view: image, specs, rating, MRP/discount/savings breakdown, highlights, Add to Cart &amp; Buy Now.</a:t>
            </a:r>
          </a:p>
          <a:p>
            <a:r>
              <a:rPr lang="en-US" b="1" dirty="0"/>
              <a:t>Module 04 — Cart &amp; Checkout:</a:t>
            </a:r>
          </a:p>
          <a:p>
            <a:pPr marL="457200" lvl="1"/>
            <a:r>
              <a:rPr lang="en-US" dirty="0"/>
              <a:t>Cart management (add/remove/qty), order summary, coupon engine (4 codes: DCPAC20, SAVE10, WELCOME15, FLAT50).</a:t>
            </a:r>
          </a:p>
          <a:p>
            <a:r>
              <a:rPr lang="en-US" b="1" dirty="0"/>
              <a:t>Module 05 — Payment Gateway:</a:t>
            </a:r>
          </a:p>
          <a:p>
            <a:pPr marL="457200" lvl="1"/>
            <a:r>
              <a:rPr lang="en-US" dirty="0"/>
              <a:t>4 modes: Card (live card preview), UPI, Net Banking, Cash on Delivery. Full form validation before order placement.</a:t>
            </a:r>
          </a:p>
          <a:p>
            <a:r>
              <a:rPr lang="en-US" b="1" dirty="0"/>
              <a:t>Module 06 — Order &amp; Tracking:</a:t>
            </a:r>
          </a:p>
          <a:p>
            <a:pPr marL="457200" lvl="1"/>
            <a:r>
              <a:rPr lang="en-US" dirty="0"/>
              <a:t>Order ID generation, 5-step animated tracking timeline, delivery partner display, My Orders with reorder.</a:t>
            </a:r>
          </a:p>
          <a:p>
            <a:r>
              <a:rPr lang="en-US" b="1" dirty="0"/>
              <a:t>Module 07 — Authentication:</a:t>
            </a:r>
          </a:p>
          <a:p>
            <a:pPr marL="457200" lvl="1"/>
            <a:r>
              <a:rPr lang="en-US" dirty="0"/>
              <a:t>Sign In/Sign Up, localStorage persistence, session management, role-based UI, demo: demo@dcpac.com / demo123.</a:t>
            </a:r>
          </a:p>
          <a:p>
            <a:r>
              <a:rPr lang="en-US" b="1" dirty="0"/>
              <a:t>Module 08 — Admin Control:</a:t>
            </a:r>
          </a:p>
          <a:p>
            <a:pPr marL="457200" lvl="1"/>
            <a:r>
              <a:rPr lang="en-US" dirty="0"/>
              <a:t>Product CRUD, user list, order status updates, inventory visibility, revenue summary dashboard.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F571-AABB-DBF0-2720-7F01DFDD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F6678-7BBF-2FBC-8619-C887BD26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2520080064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A9859-4671-FF5D-1356-4CDA5C5C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5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73125-DE57-89FD-81B9-AA8B783FC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87EB9E5-2196-BA25-5BC0-0ADC2050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C44B8-E8B6-5D9D-90FF-ECD825D72D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0797" y="1590997"/>
            <a:ext cx="9810509" cy="4220841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Objectives of the DCPAC Project:</a:t>
            </a:r>
          </a:p>
          <a:p>
            <a:r>
              <a:rPr lang="en-US" dirty="0"/>
              <a:t>Design and develop a fully functional e-commerce SPA using HTML, CSS, and JavaScript without any external framework dependency.</a:t>
            </a:r>
          </a:p>
          <a:p>
            <a:r>
              <a:rPr lang="en-US" dirty="0"/>
              <a:t>Implement a 45-product catalogue with dynamic multi-criteria filtering (category, price, rating, discount) and real-time live search.</a:t>
            </a:r>
          </a:p>
          <a:p>
            <a:r>
              <a:rPr lang="en-US" dirty="0"/>
              <a:t>Build a secure user authentication system with login/register, session persistence, and role-based access control using localStorage.</a:t>
            </a:r>
          </a:p>
          <a:p>
            <a:r>
              <a:rPr lang="en-US" dirty="0"/>
              <a:t>Develop a complete checkout pipeline: Cart → Address → Payment (Card/UPI/NetBanking/COD) → Order Confirmation → Tracking timeline.</a:t>
            </a:r>
          </a:p>
          <a:p>
            <a:r>
              <a:rPr lang="en-US" dirty="0"/>
              <a:t>Create an integrated Admin Control Panel for product management (CRUD), order tracking, user management, and sales analytics.</a:t>
            </a:r>
          </a:p>
          <a:p>
            <a:r>
              <a:rPr lang="en-US" dirty="0"/>
              <a:t>Apply responsive UI/UX design across desktop, tablet, and mobile with animations, custom cursor, and toast notification system.</a:t>
            </a:r>
          </a:p>
          <a:p>
            <a:r>
              <a:rPr lang="en-US" dirty="0"/>
              <a:t>Demonstrate software engineering best practices: modular 3-file structure, SPA routing, and separation of concerns (HTML/CSS/JS).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B0D62-5A39-5424-9CF6-9A5122E0D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45F34-84C7-08FE-3B8E-621019BE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2520080064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40D6-1BC6-8947-EA26-62259BD2C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985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49560-5402-A083-5191-CC2F2336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3A50108-EF3B-F9BF-CB25-7C4C67A4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769557B-A6AB-F48D-9A16-51F755A17B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90845"/>
            <a:ext cx="10173182" cy="4186117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CO1 — Apply HTML5 and CSS3 to create structured and styled web pages:</a:t>
            </a:r>
          </a:p>
          <a:p>
            <a:pPr marL="457200" lvl="1"/>
            <a:r>
              <a:rPr lang="en-US" dirty="0"/>
              <a:t>Created index.html with semantic tags: nav, main, section, header, footer across 10 SPA pages.</a:t>
            </a:r>
          </a:p>
          <a:p>
            <a:pPr marL="457200" lvl="1"/>
            <a:r>
              <a:rPr lang="en-US" dirty="0"/>
              <a:t>Built 3-file SPA structure: index.html + dcpac-styles.css + dcpac-app.js.</a:t>
            </a:r>
          </a:p>
          <a:p>
            <a:pPr marL="457200" lvl="1"/>
            <a:r>
              <a:rPr lang="en-US" dirty="0"/>
              <a:t>Applied CSS custom properties (variables) for theming; CSS Grid and Flexbox for responsive layouts.</a:t>
            </a:r>
          </a:p>
          <a:p>
            <a:r>
              <a:rPr lang="en-US" b="1" dirty="0"/>
              <a:t>CO2 — Implement responsive design and advanced CSS techniques:</a:t>
            </a:r>
          </a:p>
          <a:p>
            <a:pPr marL="457200" lvl="1"/>
            <a:r>
              <a:rPr lang="en-US" dirty="0"/>
              <a:t>CSS animations: particle canvas, scrolling ticker, card hover-reveal bars, toast notifications.</a:t>
            </a:r>
          </a:p>
          <a:p>
            <a:pPr marL="457200" lvl="1"/>
            <a:r>
              <a:rPr lang="en-US" dirty="0"/>
              <a:t>Custom cursor with dot + trailing ring; animated hero heading and product reel slide-in effects.</a:t>
            </a:r>
          </a:p>
          <a:p>
            <a:r>
              <a:rPr lang="en-US" b="1" dirty="0"/>
              <a:t>CO3 — Develop dynamic and interactive web pages using JavaScript:</a:t>
            </a:r>
          </a:p>
          <a:p>
            <a:pPr marL="457200" lvl="1"/>
            <a:r>
              <a:rPr lang="en-US" dirty="0"/>
              <a:t>Real-time search with live dropdown; filter sidebar with instant result update on every input change.</a:t>
            </a:r>
          </a:p>
          <a:p>
            <a:pPr marL="457200" lvl="1"/>
            <a:r>
              <a:rPr lang="en-US" dirty="0"/>
              <a:t>DOM manipulation for cart, product detail, payment form, tracking timeline, and order history.</a:t>
            </a:r>
          </a:p>
          <a:p>
            <a:r>
              <a:rPr lang="en-US" b="1" dirty="0"/>
              <a:t>CO4 — Utilize Web APIs and JavaScript for data handling:</a:t>
            </a:r>
          </a:p>
          <a:p>
            <a:pPr marL="457200" lvl="1"/>
            <a:r>
              <a:rPr lang="en-US" dirty="0"/>
              <a:t>localStorage API for cart, users, orders, session persistence across browser sessions.</a:t>
            </a:r>
          </a:p>
          <a:p>
            <a:pPr marL="457200" lvl="1"/>
            <a:r>
              <a:rPr lang="en-US" dirty="0"/>
              <a:t>Dynamic rendering from 45-item in-memory DB[] array; Canvas API for animated particle system.</a:t>
            </a:r>
          </a:p>
          <a:p>
            <a:r>
              <a:rPr lang="en-US" b="1" dirty="0"/>
              <a:t>CO5 — Design and develop a complete web application integrating all components:</a:t>
            </a:r>
          </a:p>
          <a:p>
            <a:pPr marL="457200" lvl="1"/>
            <a:r>
              <a:rPr lang="en-US" dirty="0"/>
              <a:t>Integrated all modules: Auth → Home → Product → Cart → Payment → Success → Tracking.</a:t>
            </a:r>
          </a:p>
          <a:p>
            <a:pPr marL="457200" lvl="1"/>
            <a:r>
              <a:rPr lang="en-US" dirty="0"/>
              <a:t>Coupon engine with 4 promo codes; order ID generation; reorder functionality; admin panel.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0E4ED-DE37-6D8E-7EB1-1F0F05E37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5EEDF-18C5-49AB-9643-7F3137059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2520080064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C038D-A939-9973-E752-364BB70EE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46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A9CAF-7EB0-0890-1F26-CA3F8236A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7E0E9F0-7414-F19D-A367-C4D70D67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DSA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26AE93-69A8-DC85-DA45-05F4D66EF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32971"/>
            <a:ext cx="10377668" cy="4243991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CO1 — Apply basic data structures: Arrays, Objects, Stacks, Queues:</a:t>
            </a:r>
          </a:p>
          <a:p>
            <a:pPr marL="457200" lvl="1"/>
            <a:r>
              <a:rPr lang="en-US" dirty="0"/>
              <a:t>Cart uses Array push/filter/find — add, remove, update operations in O(n).</a:t>
            </a:r>
          </a:p>
          <a:p>
            <a:pPr marL="457200" lvl="1"/>
            <a:r>
              <a:rPr lang="en-US" dirty="0"/>
              <a:t>Stack-like navigation using prevPage variable; queue-like toast notification display.</a:t>
            </a:r>
          </a:p>
          <a:p>
            <a:r>
              <a:rPr lang="en-US" b="1" dirty="0"/>
              <a:t>CO2 — Implement searching and sorting algorithms on real datasets:</a:t>
            </a:r>
          </a:p>
          <a:p>
            <a:pPr marL="457200" lvl="1"/>
            <a:r>
              <a:rPr lang="en-US" dirty="0"/>
              <a:t>Linear Search in doSearch(): scans all 45 products for keyword match — O(n).</a:t>
            </a:r>
          </a:p>
          <a:p>
            <a:pPr marL="457200" lvl="1"/>
            <a:r>
              <a:rPr lang="en-US" dirty="0"/>
              <a:t>Array.sort() comparators for Sort by Price ↑/↓, Rating, and Discount in applyF().</a:t>
            </a:r>
          </a:p>
          <a:p>
            <a:r>
              <a:rPr lang="en-US" b="1" dirty="0"/>
              <a:t>CO3 — Apply filtering algorithms and conditional data retrieval:</a:t>
            </a:r>
          </a:p>
          <a:p>
            <a:pPr marL="457200" lvl="1"/>
            <a:r>
              <a:rPr lang="en-US" dirty="0"/>
              <a:t>Multi-filter pipeline in applyF(): category → price ceiling → min rating → min discount → sort.</a:t>
            </a:r>
          </a:p>
          <a:p>
            <a:pPr marL="457200" lvl="1"/>
            <a:r>
              <a:rPr lang="en-US" dirty="0"/>
              <a:t>filter() chain reduces 45-product DB to a subset in O(n); coupon lookup via Object key — O(1).</a:t>
            </a:r>
          </a:p>
          <a:p>
            <a:r>
              <a:rPr lang="en-US" b="1" dirty="0"/>
              <a:t>CO4 — Use Hash Maps / Object-based structures for fast lookups:</a:t>
            </a:r>
          </a:p>
          <a:p>
            <a:pPr marL="457200" lvl="1"/>
            <a:r>
              <a:rPr lang="en-US" dirty="0"/>
              <a:t>localStorage acts as key-value store (Hash Map) for cart, users, orders, session.</a:t>
            </a:r>
          </a:p>
          <a:p>
            <a:pPr marL="457200" lvl="1"/>
            <a:r>
              <a:rPr lang="en-US" dirty="0"/>
              <a:t>User lookup: users.find(u =&gt; u.email===email) — O(n) scan with early exit on match.</a:t>
            </a:r>
          </a:p>
          <a:p>
            <a:r>
              <a:rPr lang="en-US" b="1" dirty="0"/>
              <a:t>CO5 — Design algorithms for real-world problem solving:</a:t>
            </a:r>
          </a:p>
          <a:p>
            <a:pPr marL="457200" lvl="1"/>
            <a:r>
              <a:rPr lang="en-US" dirty="0"/>
              <a:t>Cart total: reduce() in O(n); delivery fee logic based on subtotal threshold (free above ₹499).</a:t>
            </a:r>
          </a:p>
          <a:p>
            <a:pPr marL="457200" lvl="1"/>
            <a:r>
              <a:rPr lang="en-US" dirty="0"/>
              <a:t>Order ID: 'DCPAC-' + year + '-' + rand(100–999) — unique string key generation.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D1C05D-4DC9-ADC0-13CA-909E89023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CC7196-73FE-144C-6DB9-248E7AB5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2520080064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94048-D768-5663-4851-89B00F981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3D68-D41B-9825-3931-B79590C7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 &amp; DSA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783513C-64EA-FBA1-A76C-28A83C55DFE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03831"/>
            <a:ext cx="5909841" cy="203677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63D1B-E2DB-29C3-BA63-FF21B16E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14CB5-AB44-10F9-E8AF-4658C6595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2520080064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D5113-7B1F-AF02-CDA9-5B3AB95B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4B0B15-DCD3-6AEF-7FB2-43040DAC8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5765" y="3789016"/>
            <a:ext cx="4644484" cy="25673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88B5E89-BE3F-AEC8-30EF-4F7C8D6A76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196" y="2262002"/>
            <a:ext cx="4813958" cy="2663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953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2387257-DCD0-F7AC-FDEF-58E817D4EE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049758"/>
            <a:ext cx="3987220" cy="4224379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78F00-9629-9668-E2C5-F91B09C56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5B771-4308-D73C-7732-A85B0687E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4A01D-0B7E-91F3-AEFE-21FEC085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210C41-C597-C0BD-E07E-045903F1EF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371" y="1049758"/>
            <a:ext cx="6621657" cy="24117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A452807-15D5-9091-7A3A-0645B15FA4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1" y="3683288"/>
            <a:ext cx="3477068" cy="2673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6874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3A63-E30E-0694-B089-838C7E38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E8F526A-5F54-0308-7336-A6E08160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56E9376-CB4B-895B-7B5C-D2F5AAED74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Key Achievements:</a:t>
            </a:r>
          </a:p>
          <a:p>
            <a:r>
              <a:rPr lang="en-US" dirty="0"/>
              <a:t>Successfully developed a production-grade, fully functional e-commerce platform from scratch using only HTML5, CSS3, and Vanilla JavaScript.</a:t>
            </a:r>
          </a:p>
          <a:p>
            <a:r>
              <a:rPr lang="en-US" dirty="0"/>
              <a:t>Implemented a 45-product database spanning 8 categories with CRUD, dynamic filtering, multi-sort, real-time search, and live result count.</a:t>
            </a:r>
          </a:p>
          <a:p>
            <a:r>
              <a:rPr lang="en-US" dirty="0"/>
              <a:t>Built a complete end-to-end purchase flow: Home → Product → Cart → Coupon → Payment → Order Confirmation → 5-step Tracking Timeline.</a:t>
            </a:r>
          </a:p>
          <a:p>
            <a:r>
              <a:rPr lang="en-US" dirty="0"/>
              <a:t>Applied Data Structures (Arrays, Objects, Hash Maps) and Algorithms (Linear Search, Sort, Multi-Filter, Reduce) in real-world software scenarios.</a:t>
            </a:r>
          </a:p>
          <a:p>
            <a:r>
              <a:rPr lang="en-US" dirty="0"/>
              <a:t>Achieved responsive design across all screen sizes with custom cursor, particle animations, hover interactions, and toast notification system.</a:t>
            </a:r>
          </a:p>
          <a:p>
            <a:r>
              <a:rPr lang="en-US" dirty="0"/>
              <a:t>Demonstrated all 5 Course Outcomes (CO1–CO5) of both FWD and DSA subjects through tangible, working software features in DCPAC.</a:t>
            </a:r>
          </a:p>
          <a:p>
            <a:r>
              <a:rPr lang="en-US" b="1" dirty="0"/>
              <a:t>Future Scope:</a:t>
            </a:r>
          </a:p>
          <a:p>
            <a:pPr marL="457200" lvl="1"/>
            <a:r>
              <a:rPr lang="en-US" dirty="0"/>
              <a:t>Node.js + Express + MongoDB backend for real server-side persistence.</a:t>
            </a:r>
          </a:p>
          <a:p>
            <a:pPr marL="457200" lvl="1"/>
            <a:r>
              <a:rPr lang="en-US" dirty="0"/>
              <a:t>Payment API integration (Razorpay/Stripe); AI-powered product recommendations.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84C9A-73D1-DA76-6E0C-91C24CB83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1726C-C351-8876-43C7-C9B8807E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2520080064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4E02D-0287-0F0D-A891-AE869E4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12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8258-F0F3-1EE4-1AB3-DB04AD6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961B8-8709-0718-F6D3-9D07622F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Geo- Tag Photos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8EAAE-4073-261B-4850-9857C07D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2172-0EFE-3ADA-47FA-029EF21A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2520080064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9B8A7-6131-D012-7DA4-A9F36B2B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15</a:t>
            </a:fld>
            <a:endParaRPr lang="en-US"/>
          </a:p>
        </p:txBody>
      </p:sp>
      <p:sp>
        <p:nvSpPr>
          <p:cNvPr id="9" name="AutoShape 6">
            <a:extLst>
              <a:ext uri="{FF2B5EF4-FFF2-40B4-BE49-F238E27FC236}">
                <a16:creationId xmlns:a16="http://schemas.microsoft.com/office/drawing/2014/main" id="{0BF481D4-888A-D892-28EF-3166CBCD793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2830010" cy="2830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B115BC8-6A67-0137-6D6E-15897B83B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460" y="2175910"/>
            <a:ext cx="4572000" cy="3429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E62A59A-3288-39E2-3466-CC356FBBE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2311913"/>
            <a:ext cx="4572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4719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2520080064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3721</TotalTime>
  <Words>1925</Words>
  <Application>Microsoft Office PowerPoint</Application>
  <PresentationFormat>Widescreen</PresentationFormat>
  <Paragraphs>193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Calibri</vt:lpstr>
      <vt:lpstr>Calibri Light</vt:lpstr>
      <vt:lpstr>Google Sans</vt:lpstr>
      <vt:lpstr>Office Theme</vt:lpstr>
      <vt:lpstr>Custom Design</vt:lpstr>
      <vt:lpstr>INSTRUCTIONS</vt:lpstr>
      <vt:lpstr>Title: Digital Commerce Platform with Administrative Control (DCPAC)</vt:lpstr>
      <vt:lpstr>OUTLINE</vt:lpstr>
      <vt:lpstr>Abstract</vt:lpstr>
      <vt:lpstr>Existing System </vt:lpstr>
      <vt:lpstr>Proposed System</vt:lpstr>
      <vt:lpstr>System Architecture</vt:lpstr>
      <vt:lpstr>Project Modules</vt:lpstr>
      <vt:lpstr>Objectives</vt:lpstr>
      <vt:lpstr>Co’s Attainments - FWD</vt:lpstr>
      <vt:lpstr>Co’s Attainments - DSA</vt:lpstr>
      <vt:lpstr>Screenshots for FWD &amp; DSA</vt:lpstr>
      <vt:lpstr>PowerPoint Presentation</vt:lpstr>
      <vt:lpstr>Conclusion</vt:lpstr>
      <vt:lpstr>Geo- Tag Photos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sreekar rao</cp:lastModifiedBy>
  <cp:revision>53</cp:revision>
  <dcterms:created xsi:type="dcterms:W3CDTF">2022-05-20T10:20:31Z</dcterms:created>
  <dcterms:modified xsi:type="dcterms:W3CDTF">2026-03-10T03:53:21Z</dcterms:modified>
</cp:coreProperties>
</file>